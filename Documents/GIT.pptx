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803" r:id="rId2"/>
    <p:sldId id="833" r:id="rId3"/>
    <p:sldId id="824" r:id="rId4"/>
    <p:sldId id="828" r:id="rId5"/>
    <p:sldId id="805" r:id="rId6"/>
    <p:sldId id="829" r:id="rId7"/>
    <p:sldId id="832" r:id="rId8"/>
    <p:sldId id="830" r:id="rId9"/>
    <p:sldId id="834" r:id="rId10"/>
    <p:sldId id="83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323" autoAdjust="0"/>
    <p:restoredTop sz="94660"/>
  </p:normalViewPr>
  <p:slideViewPr>
    <p:cSldViewPr snapToGrid="0">
      <p:cViewPr varScale="1">
        <p:scale>
          <a:sx n="78" d="100"/>
          <a:sy n="78" d="100"/>
        </p:scale>
        <p:origin x="40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50" d="100"/>
          <a:sy n="150" d="100"/>
        </p:scale>
        <p:origin x="432" y="-14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15:46:01.0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0 22680,'0'4537'0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15:46:29.6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19108,'33472'0'0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84CAE8-38D5-461C-80C4-1AF2B758DADD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88D782-C295-45AF-8CC4-5EB981288A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2587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>
          <a:extLst>
            <a:ext uri="{FF2B5EF4-FFF2-40B4-BE49-F238E27FC236}">
              <a16:creationId xmlns:a16="http://schemas.microsoft.com/office/drawing/2014/main" id="{4ABD5BB5-C395-2DF8-D539-36737393B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:notes">
            <a:extLst>
              <a:ext uri="{FF2B5EF4-FFF2-40B4-BE49-F238E27FC236}">
                <a16:creationId xmlns:a16="http://schemas.microsoft.com/office/drawing/2014/main" id="{72FFC9B4-4278-A514-C0A7-72EAAC723E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1:notes">
            <a:extLst>
              <a:ext uri="{FF2B5EF4-FFF2-40B4-BE49-F238E27FC236}">
                <a16:creationId xmlns:a16="http://schemas.microsoft.com/office/drawing/2014/main" id="{C8FFAD72-5149-46B7-A20E-DF4F96DE0E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1:notes">
            <a:extLst>
              <a:ext uri="{FF2B5EF4-FFF2-40B4-BE49-F238E27FC236}">
                <a16:creationId xmlns:a16="http://schemas.microsoft.com/office/drawing/2014/main" id="{A97F5C20-8BAD-CE9B-4D38-1CF55F7253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16850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FF4B-C04A-07B0-094D-86746B3EF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C11CDF-21A0-9FEC-2F88-3F16669D6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8E9D5F-C289-EA26-CF8B-CB52EFE4BF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7C9EC-3730-8AE2-FDAB-25DFF0B1E5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52128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10753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790FE-2DE2-387C-625F-AACE3FD7F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00BB5F-7193-254E-6D58-C49599CA3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82A11E-0DFC-17FB-02F1-F2832FBB44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4184-A693-CBEB-6603-80242D92B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73925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35930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5F895-5022-38DA-2054-0C369F380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C18D03-72B5-B7EA-E56D-FEE96073D3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3B98BE-F9C6-D5BF-E732-2895FF121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7E643-4F9A-B030-FD04-51F4A8BA26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210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B7A1-F227-707B-7BDC-D8504321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22DB9F-8180-6707-CF03-AF31797831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906CB4-CBD8-AEBB-903A-0350DDF74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B16E92-3E9E-2C9C-DCEB-A027251CF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60877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2D362-4CC2-1D7D-5B37-272761D9F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1E08CF-FFD7-C7F1-F7C9-8C0198C9E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E2D4EC-36D9-9636-CD33-D59AAB049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B67E4-279A-3BB1-BEE4-9C8B181D0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61969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DC3CD-5E49-93DA-5423-3E7B80100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59AAFE-8861-D645-5850-43C4BF149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DEDB28-A3DC-7E55-C04D-CF42B9422E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654949-79C4-EB93-44E5-FA3483E896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10206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086D0-C302-35A2-A260-3CDD14B6E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58981-14D0-7908-694C-4FDB3C4F9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64AD2F-6AE3-A62A-2AF4-C18F91CE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14A88-FC08-9C8A-7686-6A2CB491B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9203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White">
  <p:cSld name="Cover Whit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2" descr="C:\Users\Admin\Downloads\ilovepdf_pages-to-jpg (1)\RU_PPT Template-White Blank_page-0001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19319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/>
          <p:nvPr/>
        </p:nvSpPr>
        <p:spPr>
          <a:xfrm>
            <a:off x="685800" y="5880100"/>
            <a:ext cx="3422650" cy="97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2"/>
          <p:cNvSpPr/>
          <p:nvPr/>
        </p:nvSpPr>
        <p:spPr>
          <a:xfrm>
            <a:off x="8769350" y="5486400"/>
            <a:ext cx="3422650" cy="97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" name="Google Shape;19;p2"/>
          <p:cNvGrpSpPr/>
          <p:nvPr/>
        </p:nvGrpSpPr>
        <p:grpSpPr>
          <a:xfrm>
            <a:off x="9220200" y="5410200"/>
            <a:ext cx="2601503" cy="1082742"/>
            <a:chOff x="10616154" y="97913"/>
            <a:chExt cx="3619726" cy="1349912"/>
          </a:xfrm>
        </p:grpSpPr>
        <p:pic>
          <p:nvPicPr>
            <p:cNvPr id="20" name="Google Shape;20;p2" descr="NIRF — SAVEETHA SCHOOL OF MANAGEMENT"/>
            <p:cNvPicPr preferRelativeResize="0"/>
            <p:nvPr/>
          </p:nvPicPr>
          <p:blipFill rotWithShape="1">
            <a:blip r:embed="rId3">
              <a:alphaModFix/>
            </a:blip>
            <a:srcRect l="27517" t="4377" r="28920" b="7151"/>
            <a:stretch/>
          </p:blipFill>
          <p:spPr>
            <a:xfrm>
              <a:off x="12122688" y="97913"/>
              <a:ext cx="843474" cy="59225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 descr="Bharath University - Top University In India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737939" y="182966"/>
              <a:ext cx="1158298" cy="4308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Google Shape;22;p2" descr="CREDISAPP for Ratings - Eloit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3072901" y="114292"/>
              <a:ext cx="1155067" cy="57587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23;p2" descr="MHRD | Innovation Cell - Home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616154" y="789734"/>
              <a:ext cx="1857797" cy="6580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" name="Google Shape;24;p2" descr="Institution's Innovation Council | MHRD"/>
            <p:cNvPicPr preferRelativeResize="0"/>
            <p:nvPr/>
          </p:nvPicPr>
          <p:blipFill rotWithShape="1">
            <a:blip r:embed="rId7">
              <a:alphaModFix/>
            </a:blip>
            <a:srcRect l="8879" t="20720" r="8879" b="24345"/>
            <a:stretch/>
          </p:blipFill>
          <p:spPr>
            <a:xfrm>
              <a:off x="12886182" y="774201"/>
              <a:ext cx="1349698" cy="63758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5" name="Google Shape;25;p2"/>
          <p:cNvSpPr txBox="1">
            <a:spLocks noGrp="1"/>
          </p:cNvSpPr>
          <p:nvPr>
            <p:ph type="title"/>
          </p:nvPr>
        </p:nvSpPr>
        <p:spPr>
          <a:xfrm>
            <a:off x="1058553" y="3124200"/>
            <a:ext cx="8421823" cy="175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6600"/>
              </a:buClr>
              <a:buSzPts val="4000"/>
              <a:buFont typeface="Roboto Medium"/>
              <a:buNone/>
              <a:defRPr sz="4000" b="0" i="0" u="none" strike="noStrike" cap="none">
                <a:solidFill>
                  <a:srgbClr val="FF6600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6" name="Google Shape;26;p2"/>
          <p:cNvSpPr txBox="1">
            <a:spLocks noGrp="1"/>
          </p:cNvSpPr>
          <p:nvPr>
            <p:ph type="body" idx="1"/>
          </p:nvPr>
        </p:nvSpPr>
        <p:spPr>
          <a:xfrm>
            <a:off x="1046572" y="5129788"/>
            <a:ext cx="6755716" cy="40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600"/>
              </a:buClr>
              <a:buSzPts val="2500"/>
              <a:buFont typeface="Arial"/>
              <a:buNone/>
              <a:defRPr sz="2500" b="0" i="0" u="none" strike="noStrike" cap="none">
                <a:solidFill>
                  <a:srgbClr val="FF6600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1859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White">
  <p:cSld name="Agenda White">
    <p:bg>
      <p:bgPr>
        <a:solidFill>
          <a:schemeClr val="lt1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3" descr="C:\Users\Admin\Downloads\ilovepdf_pages-to-jpg (3)\RU_PPT Template-White Blank (1)_page-0003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733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3"/>
          <p:cNvSpPr txBox="1">
            <a:spLocks noGrp="1"/>
          </p:cNvSpPr>
          <p:nvPr>
            <p:ph type="sldNum" idx="12"/>
          </p:nvPr>
        </p:nvSpPr>
        <p:spPr>
          <a:xfrm>
            <a:off x="11367146" y="6096000"/>
            <a:ext cx="5962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0" marR="0"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marL="0" marR="0"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marL="0" marR="0"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marL="0" marR="0"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marL="0" marR="0"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marL="0" marR="0"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marL="0" marR="0"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marL="0" marR="0"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695400" y="395786"/>
            <a:ext cx="6211927" cy="8382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800"/>
              <a:buFont typeface="Roboto Medium"/>
              <a:buNone/>
              <a:defRPr sz="28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body" idx="1"/>
          </p:nvPr>
        </p:nvSpPr>
        <p:spPr>
          <a:xfrm>
            <a:off x="695400" y="1773936"/>
            <a:ext cx="10801201" cy="432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Arial"/>
              <a:buAutoNum type="arabicPeriod"/>
              <a:defRPr sz="24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Arial"/>
              <a:buAutoNum type="arabicPeriod"/>
              <a:defRPr sz="24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72222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2935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21777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9225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87447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81107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69305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619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5" name="Google Shape;85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79215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22875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024029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63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7738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customXml" Target="../ink/ink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7EB35E84-5960-AA15-D5D2-FCDA928FD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>
            <a:extLst>
              <a:ext uri="{FF2B5EF4-FFF2-40B4-BE49-F238E27FC236}">
                <a16:creationId xmlns:a16="http://schemas.microsoft.com/office/drawing/2014/main" id="{0794CBDF-89DA-68F4-4998-89F67853C47F}"/>
              </a:ext>
            </a:extLst>
          </p:cNvPr>
          <p:cNvSpPr txBox="1"/>
          <p:nvPr/>
        </p:nvSpPr>
        <p:spPr>
          <a:xfrm>
            <a:off x="3450027" y="3646955"/>
            <a:ext cx="4750130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				Invoice Genie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07" name="Google Shape;107;p15">
            <a:extLst>
              <a:ext uri="{FF2B5EF4-FFF2-40B4-BE49-F238E27FC236}">
                <a16:creationId xmlns:a16="http://schemas.microsoft.com/office/drawing/2014/main" id="{5715D715-9E59-BD2C-C8BA-7435D7135AF7}"/>
              </a:ext>
            </a:extLst>
          </p:cNvPr>
          <p:cNvSpPr txBox="1"/>
          <p:nvPr/>
        </p:nvSpPr>
        <p:spPr>
          <a:xfrm>
            <a:off x="1569910" y="2804655"/>
            <a:ext cx="9838762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School of Compu</a:t>
            </a:r>
            <a:r>
              <a:rPr lang="en-US" sz="3600" b="1" kern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 Science &amp; Engineering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AI Application Development – IA1 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57260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735E7-678C-8AF0-B273-A067CA79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CF152-678E-EC39-589A-AFB6DAA8A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587" y="90986"/>
            <a:ext cx="7937961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Team members &amp; roles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5182370-2B47-D13B-FC3B-F8B25566C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844898"/>
              </p:ext>
            </p:extLst>
          </p:nvPr>
        </p:nvGraphicFramePr>
        <p:xfrm>
          <a:off x="1275502" y="784207"/>
          <a:ext cx="9146692" cy="561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3346">
                  <a:extLst>
                    <a:ext uri="{9D8B030D-6E8A-4147-A177-3AD203B41FA5}">
                      <a16:colId xmlns:a16="http://schemas.microsoft.com/office/drawing/2014/main" val="50089967"/>
                    </a:ext>
                  </a:extLst>
                </a:gridCol>
                <a:gridCol w="4573346">
                  <a:extLst>
                    <a:ext uri="{9D8B030D-6E8A-4147-A177-3AD203B41FA5}">
                      <a16:colId xmlns:a16="http://schemas.microsoft.com/office/drawing/2014/main" val="975677717"/>
                    </a:ext>
                  </a:extLst>
                </a:gridCol>
              </a:tblGrid>
              <a:tr h="684793"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Team member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 Role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4729165"/>
                  </a:ext>
                </a:extLst>
              </a:tr>
              <a:tr h="729721">
                <a:tc>
                  <a:txBody>
                    <a:bodyPr/>
                    <a:lstStyle/>
                    <a:p>
                      <a:endParaRPr lang="en-IN" dirty="0"/>
                    </a:p>
                    <a:p>
                      <a:r>
                        <a:rPr lang="en-IN" dirty="0"/>
                        <a:t>Trisha Srinivas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Team Lead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4477258"/>
                  </a:ext>
                </a:extLst>
              </a:tr>
              <a:tr h="729721">
                <a:tc>
                  <a:txBody>
                    <a:bodyPr/>
                    <a:lstStyle/>
                    <a:p>
                      <a:endParaRPr lang="en-IN" dirty="0"/>
                    </a:p>
                    <a:p>
                      <a:r>
                        <a:rPr lang="en-IN" dirty="0"/>
                        <a:t>Vanitha B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  Developer </a:t>
                      </a:r>
                    </a:p>
                  </a:txBody>
                  <a:tcPr marL="7620" marR="7620" marT="7620" anchor="ctr"/>
                </a:tc>
                <a:extLst>
                  <a:ext uri="{0D108BD9-81ED-4DB2-BD59-A6C34878D82A}">
                    <a16:rowId xmlns:a16="http://schemas.microsoft.com/office/drawing/2014/main" val="166784707"/>
                  </a:ext>
                </a:extLst>
              </a:tr>
              <a:tr h="729721">
                <a:tc>
                  <a:txBody>
                    <a:bodyPr/>
                    <a:lstStyle/>
                    <a:p>
                      <a:endParaRPr lang="en-IN" dirty="0"/>
                    </a:p>
                    <a:p>
                      <a:r>
                        <a:rPr lang="en-IN" dirty="0"/>
                        <a:t>Thanushree S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  Marketing Lead</a:t>
                      </a:r>
                    </a:p>
                  </a:txBody>
                  <a:tcPr marL="7620" marR="7620" marT="7620" anchor="ctr"/>
                </a:tc>
                <a:extLst>
                  <a:ext uri="{0D108BD9-81ED-4DB2-BD59-A6C34878D82A}">
                    <a16:rowId xmlns:a16="http://schemas.microsoft.com/office/drawing/2014/main" val="705087221"/>
                  </a:ext>
                </a:extLst>
              </a:tr>
              <a:tr h="684793">
                <a:tc>
                  <a:txBody>
                    <a:bodyPr/>
                    <a:lstStyle/>
                    <a:p>
                      <a:pPr algn="l"/>
                      <a:r>
                        <a:rPr lang="en-IN" dirty="0"/>
                        <a:t>Uma Maheshwari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  Development Lead</a:t>
                      </a:r>
                    </a:p>
                  </a:txBody>
                  <a:tcPr marL="7620" marR="7620" marT="7620" anchor="ctr"/>
                </a:tc>
                <a:extLst>
                  <a:ext uri="{0D108BD9-81ED-4DB2-BD59-A6C34878D82A}">
                    <a16:rowId xmlns:a16="http://schemas.microsoft.com/office/drawing/2014/main" val="3251612009"/>
                  </a:ext>
                </a:extLst>
              </a:tr>
              <a:tr h="684793">
                <a:tc>
                  <a:txBody>
                    <a:bodyPr/>
                    <a:lstStyle/>
                    <a:p>
                      <a:r>
                        <a:rPr lang="en-IN" dirty="0"/>
                        <a:t>Usha Rani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Test Lead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989344"/>
                  </a:ext>
                </a:extLst>
              </a:tr>
              <a:tr h="684793">
                <a:tc>
                  <a:txBody>
                    <a:bodyPr/>
                    <a:lstStyle/>
                    <a:p>
                      <a:r>
                        <a:rPr lang="en-IN" dirty="0"/>
                        <a:t>Susmitha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Customer Contact Lead</a:t>
                      </a:r>
                    </a:p>
                    <a:p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31502386"/>
                  </a:ext>
                </a:extLst>
              </a:tr>
              <a:tr h="684793">
                <a:tc>
                  <a:txBody>
                    <a:bodyPr/>
                    <a:lstStyle/>
                    <a:p>
                      <a:r>
                        <a:rPr lang="en-US" dirty="0"/>
                        <a:t>Shrusti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Tester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21704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496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5886C-2AC8-ED81-81E1-EB56CE95F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18B1A-D73F-F2F6-5303-A4369C417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354" y="405619"/>
            <a:ext cx="7937961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</a:t>
            </a:r>
            <a:r>
              <a:rPr lang="en-US" b="1" dirty="0">
                <a:solidFill>
                  <a:schemeClr val="tx1"/>
                </a:solidFill>
                <a:ea typeface="Calibri"/>
                <a:cs typeface="Calibri"/>
              </a:rPr>
              <a:t>Modified Problem Statement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C28EA-830E-81C1-7404-A72E3E5F5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50199" y="1533807"/>
            <a:ext cx="10519785" cy="3790386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India, accountants managing MSMEs waste up to 70% of their time manually entering invoice data from messy, unstructured sources — paper bills, WhatsApp images, and PDFs — into systems like Tally. No existing solution handles this real-world data chaos. The result: frequent errors and serious GST compliance risks.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core issue is clear:</a:t>
            </a:r>
            <a:b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first mile of accounting — converting messy, real-world data into structured digital form  remains fundamentally broken.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21328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14202-8164-A88E-0CA6-8593095CE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7E602-D398-31B9-4AEB-C32E61CFB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937961" cy="838202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ea typeface="Calibri"/>
                <a:cs typeface="Calibri"/>
              </a:rPr>
              <a:t> User/ Customer Understanding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F0759-F1BE-FAAD-BBB2-2AC231645E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3050" y="1233988"/>
            <a:ext cx="10519785" cy="3790386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1360C6-5FE0-580B-5428-76569713B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38202"/>
            <a:ext cx="3754417" cy="2838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85CE9B-C6FD-9553-80D9-15B5041774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8980" y="838540"/>
            <a:ext cx="3795251" cy="28271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D2D2B7-DA31-0049-3191-236C75DB3D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8887" y="838202"/>
            <a:ext cx="3754416" cy="28271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F7AF368-BACF-4D9F-030F-A55A749E98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130" y="3940136"/>
            <a:ext cx="3631820" cy="27238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0EE183D-00F1-068E-8EA4-EE8D4464C41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9815" y="3940137"/>
            <a:ext cx="3754416" cy="272386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819ABE0-8070-269A-AADB-1BE4A9A52C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3940136"/>
            <a:ext cx="3754417" cy="2681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599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E22C4-7666-AFE3-A07F-5A5D3E72C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13FFD-F5AA-B7BE-FD50-CA6734509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477" y="0"/>
            <a:ext cx="6211927" cy="838202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ea typeface="Calibri"/>
                <a:cs typeface="Calibri"/>
              </a:rPr>
              <a:t>Ideal Customer Profile (ICP)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C3445-0940-99F0-AB5E-58C8CA362A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8490" y="1054511"/>
            <a:ext cx="12015019" cy="4320480"/>
          </a:xfrm>
        </p:spPr>
        <p:txBody>
          <a:bodyPr spcFirstLastPara="1" vert="horz" wrap="square" lIns="121920" tIns="60960" rIns="121920" bIns="60960" rtlCol="0" anchor="t" anchorCtr="0">
            <a:normAutofit lnSpcReduction="10000"/>
          </a:bodyPr>
          <a:lstStyle/>
          <a:p>
            <a:pPr marL="0" indent="0">
              <a:spcBef>
                <a:spcPts val="27"/>
              </a:spcBef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Accountants managing 10 – 20 MSME clients, using Tally with fully manual workflows.</a:t>
            </a:r>
          </a:p>
          <a:p>
            <a:pPr marL="0" indent="0">
              <a:spcBef>
                <a:spcPts val="27"/>
              </a:spcBef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IN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DEMOGRAPHICS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───────────────────────────────────────────── 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IN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</a:t>
            </a:r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CAs &amp; small accounting firms 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IN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Volume → </a:t>
            </a:r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 – 50+ MSME clients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IN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Tally (manual data entry today) 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IN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Paper bills, WhatsApp photos, PDFs </a:t>
            </a:r>
          </a:p>
          <a:p>
            <a:pPr marL="0" indent="0">
              <a:spcBef>
                <a:spcPts val="27"/>
              </a:spcBef>
              <a:buNone/>
            </a:pPr>
            <a:endParaRPr lang="en-IN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IN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PSYCHOGRAPHICS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───────────────────────────────────────────── </a:t>
            </a:r>
          </a:p>
          <a:p>
            <a:pPr marL="285750" indent="-285750">
              <a:spcBef>
                <a:spcPts val="27"/>
              </a:spcBef>
              <a:buFont typeface="Arial" panose="020B0604020202020204" pitchFamily="34" charset="0"/>
              <a:buChar char="•"/>
            </a:pPr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Hours lost to manual entry every month </a:t>
            </a:r>
          </a:p>
          <a:p>
            <a:pPr marL="285750" indent="-285750">
              <a:spcBef>
                <a:spcPts val="27"/>
              </a:spcBef>
              <a:buFont typeface="Arial" panose="020B0604020202020204" pitchFamily="34" charset="0"/>
              <a:buChar char="•"/>
            </a:pPr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GST errors damaging client trust </a:t>
            </a:r>
          </a:p>
          <a:p>
            <a:pPr marL="285750" indent="-285750">
              <a:spcBef>
                <a:spcPts val="27"/>
              </a:spcBef>
              <a:buFont typeface="Arial" panose="020B0604020202020204" pitchFamily="34" charset="0"/>
              <a:buChar char="•"/>
            </a:pPr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Want more clients, not more manual work </a:t>
            </a:r>
          </a:p>
          <a:p>
            <a:pPr marL="285750" indent="-285750">
              <a:spcBef>
                <a:spcPts val="27"/>
              </a:spcBef>
              <a:buFont typeface="Arial" panose="020B0604020202020204" pitchFamily="34" charset="0"/>
              <a:buChar char="•"/>
            </a:pPr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 it to work with Tally — no disruption </a:t>
            </a:r>
          </a:p>
          <a:p>
            <a:pPr marL="285750" indent="-285750">
              <a:spcBef>
                <a:spcPts val="27"/>
              </a:spcBef>
              <a:buFont typeface="Arial" panose="020B0604020202020204" pitchFamily="34" charset="0"/>
              <a:buChar char="•"/>
            </a:pPr>
            <a:endParaRPr lang="en-IN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Bef>
                <a:spcPts val="27"/>
              </a:spcBef>
              <a:buNone/>
            </a:pPr>
            <a:endParaRPr lang="en-IN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Bef>
                <a:spcPts val="27"/>
              </a:spcBef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We go where the pain is highest and the willingness to pay is strongest. "</a:t>
            </a:r>
          </a:p>
          <a:p>
            <a:pPr marL="0" indent="0">
              <a:spcBef>
                <a:spcPts val="27"/>
              </a:spcBef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27"/>
              </a:spcBef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27"/>
              </a:spcBef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8610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6636C-7729-37EE-3B86-F1312175D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9B525-9939-960F-B359-A89DCC475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3962400" cy="648929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Customer Persona (CP)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86C9A-5673-235A-9BD4-3F585055F2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179" y="761514"/>
            <a:ext cx="12113342" cy="2935850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RAVI KUMAR  |  CA, 38  |  Bengaluru | Manages 15–25 MSME clients  ·  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Primary tool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: Tally</a:t>
            </a:r>
          </a:p>
          <a:p>
            <a:pPr marL="0" indent="0">
              <a:spcBef>
                <a:spcPts val="27"/>
              </a:spcBef>
              <a:buNone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0" indent="0">
              <a:spcBef>
                <a:spcPts val="27"/>
              </a:spcBef>
              <a:buNone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HIS MONTH                                                  WHAT FRUSTRATES HIM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                                                 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Collects bills &amp; notebooks                              Hours lost on manual entry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Interprets handwritten bills                             Messy, unreadable records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Re-enters data into Tally                                 GST errors from wrong entries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Files GST every month-end                            Chasing missing invoice details</a:t>
            </a:r>
          </a:p>
          <a:p>
            <a:pPr marL="285750" indent="-285750">
              <a:spcBef>
                <a:spcPts val="27"/>
              </a:spcBef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E28F3B4-6E83-D6B1-4CBC-E8C8CC575070}"/>
                  </a:ext>
                </a:extLst>
              </p14:cNvPr>
              <p14:cNvContentPartPr/>
              <p14:nvPr/>
            </p14:nvContentPartPr>
            <p14:xfrm>
              <a:off x="3205010" y="1786907"/>
              <a:ext cx="720" cy="16336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E28F3B4-6E83-D6B1-4CBC-E8C8CC57507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92770" y="1780427"/>
                <a:ext cx="25200" cy="164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7F66EA0-FC88-C62E-204B-93887B6231A3}"/>
                  </a:ext>
                </a:extLst>
              </p14:cNvPr>
              <p14:cNvContentPartPr/>
              <p14:nvPr/>
            </p14:nvContentPartPr>
            <p14:xfrm>
              <a:off x="48890" y="3437413"/>
              <a:ext cx="12049920" cy="7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7F66EA0-FC88-C62E-204B-93887B6231A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2770" y="3425173"/>
                <a:ext cx="12062160" cy="25200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600CC8B3-1E89-DEA1-0B3A-D77D96DE7EF0}"/>
              </a:ext>
            </a:extLst>
          </p:cNvPr>
          <p:cNvSpPr txBox="1"/>
          <p:nvPr/>
        </p:nvSpPr>
        <p:spPr>
          <a:xfrm>
            <a:off x="61479" y="3645745"/>
            <a:ext cx="736436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HE NEEDS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Auto-extract from photos &amp; handwritten bills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 incomplete inputs without manual cleanup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 Tally-compatible export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Simple — nothing new for clients to learn</a:t>
            </a:r>
          </a:p>
        </p:txBody>
      </p:sp>
    </p:spTree>
    <p:extLst>
      <p:ext uri="{BB962C8B-B14F-4D97-AF65-F5344CB8AC3E}">
        <p14:creationId xmlns:p14="http://schemas.microsoft.com/office/powerpoint/2010/main" val="880199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5D599-550D-934B-834C-4B89AA626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EFA05-49D5-8965-5B47-01BD88A22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2654709" cy="432619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ea typeface="Calibri"/>
                <a:cs typeface="Calibri"/>
              </a:rPr>
              <a:t> Product USP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D32972-71CF-5F3C-FC9D-E36A0D2D5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968" y="493149"/>
            <a:ext cx="11506432" cy="5799495"/>
          </a:xfrm>
        </p:spPr>
        <p:txBody>
          <a:bodyPr spcFirstLastPara="1" vert="horz" wrap="square" lIns="121920" tIns="60960" rIns="121920" bIns="60960" rtlCol="0" anchor="t" anchorCtr="0">
            <a:normAutofit fontScale="70000" lnSpcReduction="20000"/>
          </a:bodyPr>
          <a:lstStyle/>
          <a:p>
            <a:pPr marL="0" indent="0">
              <a:spcBef>
                <a:spcPts val="27"/>
              </a:spcBef>
              <a:buNone/>
            </a:pPr>
            <a:endParaRPr lang="en-US" sz="1900" dirty="0">
              <a:solidFill>
                <a:schemeClr val="tx1"/>
              </a:solidFill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sz="1900" dirty="0">
                <a:solidFill>
                  <a:schemeClr val="tx1"/>
                </a:solidFill>
              </a:rPr>
              <a:t>━━━━━━━━━━━━━━━━━━━━━━━━━━━━━━━━━━━━━━━━━━━━━━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sz="1900" dirty="0">
                <a:solidFill>
                  <a:schemeClr val="tx1"/>
                </a:solidFill>
              </a:rPr>
              <a:t>  83 MILLION MSMEs.  ONE UNSOLVED PROBLEM.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sz="1900" dirty="0">
                <a:solidFill>
                  <a:schemeClr val="tx1"/>
                </a:solidFill>
              </a:rPr>
              <a:t>━━━━━━━━━━━━━━━━━━━━━━━━━━━━━━━━━━━━━━━━━━━━━━</a:t>
            </a:r>
          </a:p>
          <a:p>
            <a:pPr marL="0" indent="0">
              <a:spcBef>
                <a:spcPts val="27"/>
              </a:spcBef>
              <a:buNone/>
            </a:pPr>
            <a:endParaRPr lang="en-US" sz="1900" dirty="0">
              <a:solidFill>
                <a:schemeClr val="tx1"/>
              </a:solidFill>
            </a:endParaRPr>
          </a:p>
          <a:p>
            <a:pPr marL="342900" indent="-342900">
              <a:spcBef>
                <a:spcPts val="27"/>
              </a:spcBef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  Every accounting tool in the market assumes your data is clean.</a:t>
            </a:r>
          </a:p>
          <a:p>
            <a:pPr marL="342900" indent="-342900">
              <a:spcBef>
                <a:spcPts val="27"/>
              </a:spcBef>
              <a:buFont typeface="Arial" panose="020B0604020202020204" pitchFamily="34" charset="0"/>
              <a:buChar char="•"/>
            </a:pPr>
            <a:endParaRPr lang="en-US" sz="1900" dirty="0">
              <a:solidFill>
                <a:schemeClr val="tx1"/>
              </a:solidFill>
            </a:endParaRPr>
          </a:p>
          <a:p>
            <a:pPr marL="342900" indent="-342900">
              <a:spcBef>
                <a:spcPts val="27"/>
              </a:spcBef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  MSME data never is.</a:t>
            </a:r>
          </a:p>
          <a:p>
            <a:pPr marL="342900" indent="-342900">
              <a:spcBef>
                <a:spcPts val="27"/>
              </a:spcBef>
              <a:buFont typeface="Arial" panose="020B0604020202020204" pitchFamily="34" charset="0"/>
              <a:buChar char="•"/>
            </a:pPr>
            <a:endParaRPr lang="en-US" sz="1900" dirty="0">
              <a:solidFill>
                <a:schemeClr val="tx1"/>
              </a:solidFill>
            </a:endParaRPr>
          </a:p>
          <a:p>
            <a:pPr marL="342900" indent="-342900">
              <a:spcBef>
                <a:spcPts val="27"/>
              </a:spcBef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  We built for that gap.</a:t>
            </a:r>
          </a:p>
          <a:p>
            <a:pPr marL="0" indent="0">
              <a:spcBef>
                <a:spcPts val="27"/>
              </a:spcBef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sz="2100" dirty="0">
                <a:solidFill>
                  <a:schemeClr val="tx1"/>
                </a:solidFill>
              </a:rPr>
              <a:t>━━━━━━━━━━━━━━━━━━━━━━━━━━━━━━━━━━━━━━━━━━━━━━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sz="2100" dirty="0">
                <a:solidFill>
                  <a:schemeClr val="tx1"/>
                </a:solidFill>
              </a:rPr>
              <a:t>WHY INVOICE GENIE WINS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sz="2100" dirty="0">
                <a:solidFill>
                  <a:schemeClr val="tx1"/>
                </a:solidFill>
              </a:rPr>
              <a:t>━━━━━━━━━━━━━━━━━━━━━━━━━━━━━━━━━━━━━━━━━━━━━━</a:t>
            </a:r>
          </a:p>
          <a:p>
            <a:pPr marL="0" indent="0">
              <a:spcBef>
                <a:spcPts val="27"/>
              </a:spcBef>
              <a:buNone/>
            </a:pPr>
            <a:endParaRPr lang="en-US" sz="21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sz="21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01  →  THE ONLY TOOL THAT READS MESSY DATA</a:t>
            </a:r>
          </a:p>
          <a:p>
            <a:pPr marL="0" indent="0">
              <a:spcBef>
                <a:spcPts val="27"/>
              </a:spcBef>
              <a:buNone/>
            </a:pPr>
            <a:endParaRPr lang="en-US" sz="21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sz="2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Handwritten bills. Blurry photos. Torn receipts.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sz="2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We extract. Others reject.</a:t>
            </a:r>
          </a:p>
          <a:p>
            <a:pPr marL="0" indent="0">
              <a:spcBef>
                <a:spcPts val="27"/>
              </a:spcBef>
              <a:buNone/>
            </a:pPr>
            <a:endParaRPr lang="en-US" sz="21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sz="21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02  →  IT NEVER GUESSES SILENTLY</a:t>
            </a:r>
          </a:p>
          <a:p>
            <a:pPr marL="0" indent="0">
              <a:spcBef>
                <a:spcPts val="27"/>
              </a:spcBef>
              <a:buNone/>
            </a:pPr>
            <a:endParaRPr lang="en-US" sz="21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sz="2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Every invoice gets a confidence score.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sz="2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You see exactly what to trust and what to fix.</a:t>
            </a:r>
          </a:p>
          <a:p>
            <a:pPr marL="0" indent="0">
              <a:spcBef>
                <a:spcPts val="27"/>
              </a:spcBef>
              <a:buNone/>
            </a:pPr>
            <a:endParaRPr lang="en-US" sz="21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sz="21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03  →  ZERO DISRUPTION TO EXISTING WORKFLOW</a:t>
            </a:r>
          </a:p>
          <a:p>
            <a:pPr marL="0" indent="0">
              <a:spcBef>
                <a:spcPts val="27"/>
              </a:spcBef>
              <a:buNone/>
            </a:pPr>
            <a:endParaRPr lang="en-US" sz="21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sz="2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No new software for clients to learn.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sz="2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Clean output. Straight into Tally.</a:t>
            </a:r>
          </a:p>
          <a:p>
            <a:pPr marL="0" indent="0">
              <a:spcBef>
                <a:spcPts val="27"/>
              </a:spcBef>
              <a:buNone/>
            </a:pPr>
            <a:endParaRPr lang="en-US" sz="21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sz="2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1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04  →  WE TURN 80 HOURS INTO 8</a:t>
            </a:r>
          </a:p>
          <a:p>
            <a:pPr marL="0" indent="0">
              <a:spcBef>
                <a:spcPts val="27"/>
              </a:spcBef>
              <a:buNone/>
            </a:pPr>
            <a:endParaRPr lang="en-US" sz="21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sz="2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20 clients × 4 hours manual entry = 80 </a:t>
            </a:r>
            <a:r>
              <a:rPr lang="en-US" sz="21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hrs</a:t>
            </a:r>
            <a:r>
              <a:rPr lang="en-US" sz="2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/month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sz="2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With Invoice Genie → under 8 hours.</a:t>
            </a:r>
          </a:p>
          <a:p>
            <a:pPr marL="0" indent="0">
              <a:spcBef>
                <a:spcPts val="27"/>
              </a:spcBef>
              <a:buNone/>
            </a:pPr>
            <a:endParaRPr lang="en-US" sz="2100" dirty="0">
              <a:solidFill>
                <a:schemeClr val="tx1"/>
              </a:solidFill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sz="2100" dirty="0">
                <a:solidFill>
                  <a:schemeClr val="tx1"/>
                </a:solidFill>
              </a:rPr>
              <a:t>━━━━━━━━━━━━━━━━━━━━━━━━━━━━━━━━━━━━━━━━━━━━━━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spcBef>
                <a:spcPts val="27"/>
              </a:spcBef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6672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1565F-E02D-F94D-F107-CD2878B8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43AFC-E9B9-CA66-D2C9-C42DE2F1D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962" y="0"/>
            <a:ext cx="6462484" cy="56043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Use Cases &amp; High level Requirements</a:t>
            </a:r>
            <a:endParaRPr lang="en-US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AADE7-0B30-77FD-7C8B-41A1B856F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4962" y="668594"/>
            <a:ext cx="10936161" cy="5132438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7620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Case 1: Handwritten Bill</a:t>
            </a:r>
          </a:p>
          <a:p>
            <a:pPr marL="3619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Input: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Photo of a handwritten shop bill </a:t>
            </a:r>
          </a:p>
          <a:p>
            <a:pPr marL="3619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Output: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8191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Extracted key fields (vendor, amount, date, etc.) </a:t>
            </a:r>
          </a:p>
          <a:p>
            <a:pPr marL="8191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Confidence score indicating reliability</a:t>
            </a:r>
          </a:p>
          <a:p>
            <a:pPr marL="76200" indent="0">
              <a:buNone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620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Case 2: Bulk PDF Upload</a:t>
            </a: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Input: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50 invoices uploaded in one batch </a:t>
            </a: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876300" lvl="1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Structured Excel file with all extracted data </a:t>
            </a:r>
          </a:p>
          <a:p>
            <a:pPr marL="876300" lvl="1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Only exceptions and problematic entries flagged for review</a:t>
            </a:r>
          </a:p>
          <a:p>
            <a:pPr marL="533400" lvl="1" indent="0">
              <a:buNone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6200" indent="0">
              <a:buNone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Case 3: WhatsApp Invoice Image</a:t>
            </a: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Input: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Blurry invoice image forwarded via WhatsApp </a:t>
            </a: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876300" lvl="1" indent="-34290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Parsed invoice data </a:t>
            </a:r>
          </a:p>
          <a:p>
            <a:pPr marL="876300" lvl="1" indent="-34290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GSTIN validation result with error/validity status</a:t>
            </a:r>
          </a:p>
          <a:p>
            <a:pPr marL="533400" lvl="1" indent="0">
              <a:buNone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76300" lvl="1" indent="-34290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/>
              </a:solidFill>
            </a:endParaRP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748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D35F6-3A36-935C-9B65-5C781C8FC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1F066-1967-3B09-84CD-902738A2D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962" y="0"/>
            <a:ext cx="6462484" cy="56043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Use Cases &amp; High level Requirements</a:t>
            </a:r>
            <a:endParaRPr lang="en-US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936A6-46F7-7D22-4EF3-4C5DD6FD1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4962" y="668594"/>
            <a:ext cx="10936161" cy="5132438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7620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Case 4: Scanned Notebook Page</a:t>
            </a: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Input:</a:t>
            </a:r>
            <a:r>
              <a:rPr lang="en-US" sz="17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Scanned page containing multiple handwritten entries </a:t>
            </a: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r>
              <a:rPr lang="en-US" sz="17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876300" lvl="1" indent="-342900"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Line-by-line data extraction </a:t>
            </a:r>
          </a:p>
          <a:p>
            <a:pPr marL="876300" lvl="1" indent="-342900"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 or unclear fields clearly flagged</a:t>
            </a:r>
          </a:p>
          <a:p>
            <a:pPr marL="3619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620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Case 5: Duplicate Invoice Detection</a:t>
            </a: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Input: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Same invoice submitted more than once </a:t>
            </a: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876300" lvl="1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Duplicate detected automatically </a:t>
            </a:r>
          </a:p>
          <a:p>
            <a:pPr marL="876300" lvl="1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Alert raised before processing to prevent redundancy</a:t>
            </a:r>
          </a:p>
          <a:p>
            <a:pPr marL="533400" lvl="1" indent="0">
              <a:buNone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76300" lvl="1" indent="-34290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/>
              </a:solidFill>
            </a:endParaRP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292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E1081-ED83-5A03-3AF1-E77B4D789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6EBF3-B90A-D780-71A8-0F6F74206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954" y="81154"/>
            <a:ext cx="7045685" cy="838202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Prototype Demo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C5F9A2-350E-56C2-067C-339509162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9" y="919355"/>
            <a:ext cx="5096986" cy="23146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8536BA-27B2-F11A-BA44-F11600571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89" y="3526677"/>
            <a:ext cx="4991797" cy="259116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24E4334-980E-BC88-2290-4CDFAA3940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466"/>
          <a:stretch>
            <a:fillRect/>
          </a:stretch>
        </p:blipFill>
        <p:spPr>
          <a:xfrm>
            <a:off x="6074546" y="919355"/>
            <a:ext cx="5075532" cy="231462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6F173B6-C337-9FB0-90A1-7EDE12BABE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4546" y="3526677"/>
            <a:ext cx="5015823" cy="2591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31276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2573</TotalTime>
  <Words>878</Words>
  <Application>Microsoft Office PowerPoint</Application>
  <PresentationFormat>Widescreen</PresentationFormat>
  <Paragraphs>171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Arial</vt:lpstr>
      <vt:lpstr>Calibri</vt:lpstr>
      <vt:lpstr>Roboto Medium</vt:lpstr>
      <vt:lpstr>Times New Roman</vt:lpstr>
      <vt:lpstr>1_Office Theme</vt:lpstr>
      <vt:lpstr>PowerPoint Presentation</vt:lpstr>
      <vt:lpstr>Team members &amp; roles</vt:lpstr>
      <vt:lpstr> Modified Problem Statement</vt:lpstr>
      <vt:lpstr> User/ Customer Understanding</vt:lpstr>
      <vt:lpstr>Ideal Customer Profile (ICP)</vt:lpstr>
      <vt:lpstr>Customer Persona (CP)</vt:lpstr>
      <vt:lpstr> Product USP</vt:lpstr>
      <vt:lpstr> Use Cases &amp; High level Requirements</vt:lpstr>
      <vt:lpstr> Use Cases &amp; High level Requirements</vt:lpstr>
      <vt:lpstr>Prototype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Ramaraj Sri</dc:creator>
  <cp:lastModifiedBy>trisha.srinivas123@outlook.com</cp:lastModifiedBy>
  <cp:revision>15</cp:revision>
  <dcterms:created xsi:type="dcterms:W3CDTF">2025-09-17T04:00:39Z</dcterms:created>
  <dcterms:modified xsi:type="dcterms:W3CDTF">2026-03-27T17:34:10Z</dcterms:modified>
</cp:coreProperties>
</file>