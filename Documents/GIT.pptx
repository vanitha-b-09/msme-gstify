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"/>
  </p:notesMasterIdLst>
  <p:sldIdLst>
    <p:sldId id="803" r:id="rId2"/>
    <p:sldId id="833" r:id="rId3"/>
    <p:sldId id="824" r:id="rId4"/>
    <p:sldId id="828" r:id="rId5"/>
    <p:sldId id="805" r:id="rId6"/>
    <p:sldId id="829" r:id="rId7"/>
    <p:sldId id="832" r:id="rId8"/>
    <p:sldId id="830" r:id="rId9"/>
    <p:sldId id="831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323" autoAdjust="0"/>
    <p:restoredTop sz="94660"/>
  </p:normalViewPr>
  <p:slideViewPr>
    <p:cSldViewPr snapToGrid="0">
      <p:cViewPr varScale="1">
        <p:scale>
          <a:sx n="78" d="100"/>
          <a:sy n="78" d="100"/>
        </p:scale>
        <p:origin x="403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50" d="100"/>
          <a:sy n="150" d="100"/>
        </p:scale>
        <p:origin x="432" y="-14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84CAE8-38D5-461C-80C4-1AF2B758DADD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88D782-C295-45AF-8CC4-5EB981288A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625876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>
          <a:extLst>
            <a:ext uri="{FF2B5EF4-FFF2-40B4-BE49-F238E27FC236}">
              <a16:creationId xmlns:a16="http://schemas.microsoft.com/office/drawing/2014/main" id="{4ABD5BB5-C395-2DF8-D539-36737393B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:notes">
            <a:extLst>
              <a:ext uri="{FF2B5EF4-FFF2-40B4-BE49-F238E27FC236}">
                <a16:creationId xmlns:a16="http://schemas.microsoft.com/office/drawing/2014/main" id="{72FFC9B4-4278-A514-C0A7-72EAAC723E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3" name="Google Shape;103;p1:notes">
            <a:extLst>
              <a:ext uri="{FF2B5EF4-FFF2-40B4-BE49-F238E27FC236}">
                <a16:creationId xmlns:a16="http://schemas.microsoft.com/office/drawing/2014/main" id="{C8FFAD72-5149-46B7-A20E-DF4F96DE0E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1:notes">
            <a:extLst>
              <a:ext uri="{FF2B5EF4-FFF2-40B4-BE49-F238E27FC236}">
                <a16:creationId xmlns:a16="http://schemas.microsoft.com/office/drawing/2014/main" id="{A97F5C20-8BAD-CE9B-4D38-1CF55F7253B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1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16850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AFF4B-C04A-07B0-094D-86746B3EF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C11CDF-21A0-9FEC-2F88-3F16669D64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8E9D5F-C289-EA26-CF8B-CB52EFE4BF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Talk about how they are managing their documents, how google docs does automatic versioning</a:t>
            </a:r>
          </a:p>
          <a:p>
            <a:endParaRPr lang="en-IN" dirty="0"/>
          </a:p>
          <a:p>
            <a:r>
              <a:rPr lang="en-IN" dirty="0"/>
              <a:t>As them what they know  about Android and </a:t>
            </a:r>
            <a:r>
              <a:rPr lang="en-IN" dirty="0" err="1"/>
              <a:t>IoS</a:t>
            </a:r>
            <a:r>
              <a:rPr lang="en-IN" dirty="0"/>
              <a:t> versions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17C9EC-3730-8AE2-FDAB-25DFF0B1E5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52128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Talk about how they are managing their documents, how google docs does automatic versioning</a:t>
            </a:r>
          </a:p>
          <a:p>
            <a:endParaRPr lang="en-IN" dirty="0"/>
          </a:p>
          <a:p>
            <a:r>
              <a:rPr lang="en-IN" dirty="0"/>
              <a:t>As them what they know  about Android and </a:t>
            </a:r>
            <a:r>
              <a:rPr lang="en-IN" dirty="0" err="1"/>
              <a:t>IoS</a:t>
            </a:r>
            <a:r>
              <a:rPr lang="en-IN" dirty="0"/>
              <a:t> versions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10753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790FE-2DE2-387C-625F-AACE3FD7F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00BB5F-7193-254E-6D58-C49599CA31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82A11E-0DFC-17FB-02F1-F2832FBB44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Talk about how they are managing their documents, how google docs does automatic versioning</a:t>
            </a:r>
          </a:p>
          <a:p>
            <a:endParaRPr lang="en-IN" dirty="0"/>
          </a:p>
          <a:p>
            <a:r>
              <a:rPr lang="en-IN" dirty="0"/>
              <a:t>As them what they know  about Android and </a:t>
            </a:r>
            <a:r>
              <a:rPr lang="en-IN" dirty="0" err="1"/>
              <a:t>IoS</a:t>
            </a:r>
            <a:r>
              <a:rPr lang="en-IN" dirty="0"/>
              <a:t> versions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B4184-A693-CBEB-6603-80242D92BF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73925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635930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5F895-5022-38DA-2054-0C369F380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C18D03-72B5-B7EA-E56D-FEE96073D3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3B98BE-F9C6-D5BF-E732-2895FF121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D7E643-4F9A-B030-FD04-51F4A8BA26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21060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BB7A1-F227-707B-7BDC-D8504321C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22DB9F-8180-6707-CF03-AF31797831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906CB4-CBD8-AEBB-903A-0350DDF74B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B16E92-3E9E-2C9C-DCEB-A027251CFE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560877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2D362-4CC2-1D7D-5B37-272761D9F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1E08CF-FFD7-C7F1-F7C9-8C0198C9EF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E2D4EC-36D9-9636-CD33-D59AAB049B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0B67E4-279A-3BB1-BEE4-9C8B181D0A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61969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086D0-C302-35A2-A260-3CDD14B6E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C58981-14D0-7908-694C-4FDB3C4F9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64AD2F-6AE3-A62A-2AF4-C18F91CE5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B14A88-FC08-9C8A-7686-6A2CB491B6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992034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 White">
  <p:cSld name="Cover Whit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2" descr="C:\Users\Admin\Downloads\ilovepdf_pages-to-jpg (1)\RU_PPT Template-White Blank_page-0001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" y="0"/>
            <a:ext cx="1219319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"/>
          <p:cNvSpPr/>
          <p:nvPr/>
        </p:nvSpPr>
        <p:spPr>
          <a:xfrm>
            <a:off x="685800" y="5880100"/>
            <a:ext cx="3422650" cy="977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2"/>
          <p:cNvSpPr/>
          <p:nvPr/>
        </p:nvSpPr>
        <p:spPr>
          <a:xfrm>
            <a:off x="8769350" y="5486400"/>
            <a:ext cx="3422650" cy="977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" name="Google Shape;19;p2"/>
          <p:cNvGrpSpPr/>
          <p:nvPr/>
        </p:nvGrpSpPr>
        <p:grpSpPr>
          <a:xfrm>
            <a:off x="9220200" y="5410200"/>
            <a:ext cx="2601503" cy="1082742"/>
            <a:chOff x="10616154" y="97913"/>
            <a:chExt cx="3619726" cy="1349912"/>
          </a:xfrm>
        </p:grpSpPr>
        <p:pic>
          <p:nvPicPr>
            <p:cNvPr id="20" name="Google Shape;20;p2" descr="NIRF — SAVEETHA SCHOOL OF MANAGEMENT"/>
            <p:cNvPicPr preferRelativeResize="0"/>
            <p:nvPr/>
          </p:nvPicPr>
          <p:blipFill rotWithShape="1">
            <a:blip r:embed="rId3">
              <a:alphaModFix/>
            </a:blip>
            <a:srcRect l="27517" t="4377" r="28920" b="7151"/>
            <a:stretch/>
          </p:blipFill>
          <p:spPr>
            <a:xfrm>
              <a:off x="12122688" y="97913"/>
              <a:ext cx="843474" cy="59225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Google Shape;21;p2" descr="Bharath University - Top University In India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0737939" y="182966"/>
              <a:ext cx="1158298" cy="43088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" name="Google Shape;22;p2" descr="CREDISAPP for Ratings - Eloit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3072901" y="114292"/>
              <a:ext cx="1155067" cy="57587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Google Shape;23;p2" descr="MHRD | Innovation Cell - Home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0616154" y="789734"/>
              <a:ext cx="1857797" cy="6580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" name="Google Shape;24;p2" descr="Institution's Innovation Council | MHRD"/>
            <p:cNvPicPr preferRelativeResize="0"/>
            <p:nvPr/>
          </p:nvPicPr>
          <p:blipFill rotWithShape="1">
            <a:blip r:embed="rId7">
              <a:alphaModFix/>
            </a:blip>
            <a:srcRect l="8879" t="20720" r="8879" b="24345"/>
            <a:stretch/>
          </p:blipFill>
          <p:spPr>
            <a:xfrm>
              <a:off x="12886182" y="774201"/>
              <a:ext cx="1349698" cy="63758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5" name="Google Shape;25;p2"/>
          <p:cNvSpPr txBox="1">
            <a:spLocks noGrp="1"/>
          </p:cNvSpPr>
          <p:nvPr>
            <p:ph type="title"/>
          </p:nvPr>
        </p:nvSpPr>
        <p:spPr>
          <a:xfrm>
            <a:off x="1058553" y="3124200"/>
            <a:ext cx="8421823" cy="1750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6600"/>
              </a:buClr>
              <a:buSzPts val="4000"/>
              <a:buFont typeface="Roboto Medium"/>
              <a:buNone/>
              <a:defRPr sz="4000" b="0" i="0" u="none" strike="noStrike" cap="none">
                <a:solidFill>
                  <a:srgbClr val="FF6600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6" name="Google Shape;26;p2"/>
          <p:cNvSpPr txBox="1">
            <a:spLocks noGrp="1"/>
          </p:cNvSpPr>
          <p:nvPr>
            <p:ph type="body" idx="1"/>
          </p:nvPr>
        </p:nvSpPr>
        <p:spPr>
          <a:xfrm>
            <a:off x="1046572" y="5129788"/>
            <a:ext cx="6755716" cy="407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600"/>
              </a:buClr>
              <a:buSzPts val="2500"/>
              <a:buFont typeface="Arial"/>
              <a:buNone/>
              <a:defRPr sz="2500" b="0" i="0" u="none" strike="noStrike" cap="none">
                <a:solidFill>
                  <a:srgbClr val="FF6600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marL="914400" marR="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21859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White">
  <p:cSld name="Agenda White">
    <p:bg>
      <p:bgPr>
        <a:solidFill>
          <a:schemeClr val="lt1"/>
        </a:solidFill>
        <a:effectLst/>
      </p:bgPr>
    </p:bg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28;p3" descr="C:\Users\Admin\Downloads\ilovepdf_pages-to-jpg (3)\RU_PPT Template-White Blank (1)_page-0003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733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3"/>
          <p:cNvSpPr txBox="1">
            <a:spLocks noGrp="1"/>
          </p:cNvSpPr>
          <p:nvPr>
            <p:ph type="sldNum" idx="12"/>
          </p:nvPr>
        </p:nvSpPr>
        <p:spPr>
          <a:xfrm>
            <a:off x="11367146" y="6096000"/>
            <a:ext cx="5962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marL="0" marR="0" lvl="1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marL="0" marR="0" lvl="2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marL="0" marR="0" lvl="3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marL="0" marR="0" lvl="4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marL="0" marR="0" lvl="5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marL="0" marR="0" lvl="6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marL="0" marR="0" lvl="7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marL="0" marR="0" lvl="8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" name="Google Shape;30;p3"/>
          <p:cNvSpPr txBox="1">
            <a:spLocks noGrp="1"/>
          </p:cNvSpPr>
          <p:nvPr>
            <p:ph type="title"/>
          </p:nvPr>
        </p:nvSpPr>
        <p:spPr>
          <a:xfrm>
            <a:off x="695400" y="395786"/>
            <a:ext cx="6211927" cy="8382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800"/>
              <a:buFont typeface="Roboto Medium"/>
              <a:buNone/>
              <a:defRPr sz="2800" b="0" i="0" u="none" strike="noStrike" cap="none">
                <a:solidFill>
                  <a:srgbClr val="7F7F7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1" name="Google Shape;31;p3"/>
          <p:cNvSpPr txBox="1">
            <a:spLocks noGrp="1"/>
          </p:cNvSpPr>
          <p:nvPr>
            <p:ph type="body" idx="1"/>
          </p:nvPr>
        </p:nvSpPr>
        <p:spPr>
          <a:xfrm>
            <a:off x="695400" y="1773936"/>
            <a:ext cx="10801201" cy="4320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400"/>
              <a:buFont typeface="Arial"/>
              <a:buAutoNum type="arabicPeriod"/>
              <a:defRPr sz="2400" b="0" i="0" u="none" strike="noStrike" cap="none">
                <a:solidFill>
                  <a:srgbClr val="7F7F7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marL="914400" marR="0" lvl="1" indent="-3810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rgbClr val="7F7F7F"/>
              </a:buClr>
              <a:buSzPts val="2400"/>
              <a:buFont typeface="Arial"/>
              <a:buAutoNum type="arabicPeriod"/>
              <a:defRPr sz="2400" b="0" i="0" u="none" strike="noStrike" cap="none">
                <a:solidFill>
                  <a:srgbClr val="7F7F7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72222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4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29359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217777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 Conten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092253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Comparison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8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8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0" name="Google Shape;60;p8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87447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811076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693058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0619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2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5" name="Google Shape;85;p1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6" name="Google Shape;86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79215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2" name="Google Shape;9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722875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4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024029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63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37738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>
          <a:extLst>
            <a:ext uri="{FF2B5EF4-FFF2-40B4-BE49-F238E27FC236}">
              <a16:creationId xmlns:a16="http://schemas.microsoft.com/office/drawing/2014/main" id="{7EB35E84-5960-AA15-D5D2-FCDA928FD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5">
            <a:extLst>
              <a:ext uri="{FF2B5EF4-FFF2-40B4-BE49-F238E27FC236}">
                <a16:creationId xmlns:a16="http://schemas.microsoft.com/office/drawing/2014/main" id="{0794CBDF-89DA-68F4-4998-89F67853C47F}"/>
              </a:ext>
            </a:extLst>
          </p:cNvPr>
          <p:cNvSpPr txBox="1"/>
          <p:nvPr/>
        </p:nvSpPr>
        <p:spPr>
          <a:xfrm>
            <a:off x="3450027" y="3646955"/>
            <a:ext cx="4750130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				Invoice Genie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07" name="Google Shape;107;p15">
            <a:extLst>
              <a:ext uri="{FF2B5EF4-FFF2-40B4-BE49-F238E27FC236}">
                <a16:creationId xmlns:a16="http://schemas.microsoft.com/office/drawing/2014/main" id="{5715D715-9E59-BD2C-C8BA-7435D7135AF7}"/>
              </a:ext>
            </a:extLst>
          </p:cNvPr>
          <p:cNvSpPr txBox="1"/>
          <p:nvPr/>
        </p:nvSpPr>
        <p:spPr>
          <a:xfrm>
            <a:off x="1569910" y="2804655"/>
            <a:ext cx="9838762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School of Compu</a:t>
            </a:r>
            <a:r>
              <a:rPr lang="en-US" sz="3600" b="1" kern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 Science &amp; Engineering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AI Application Development – IA1 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57260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735E7-678C-8AF0-B273-A067CA793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CF152-678E-EC39-589A-AFB6DAA8A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587" y="90986"/>
            <a:ext cx="7937961" cy="838202"/>
          </a:xfrm>
        </p:spPr>
        <p:txBody>
          <a:bodyPr/>
          <a:lstStyle/>
          <a:p>
            <a:r>
              <a:rPr lang="en-US" dirty="0">
                <a:ea typeface="Calibri"/>
                <a:cs typeface="Calibri"/>
              </a:rPr>
              <a:t>Team members &amp; roles</a:t>
            </a: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5182370-2B47-D13B-FC3B-F8B25566CA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906592"/>
              </p:ext>
            </p:extLst>
          </p:nvPr>
        </p:nvGraphicFramePr>
        <p:xfrm>
          <a:off x="1275503" y="784207"/>
          <a:ext cx="9107362" cy="4940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53681">
                  <a:extLst>
                    <a:ext uri="{9D8B030D-6E8A-4147-A177-3AD203B41FA5}">
                      <a16:colId xmlns:a16="http://schemas.microsoft.com/office/drawing/2014/main" val="50089967"/>
                    </a:ext>
                  </a:extLst>
                </a:gridCol>
                <a:gridCol w="4553681">
                  <a:extLst>
                    <a:ext uri="{9D8B030D-6E8A-4147-A177-3AD203B41FA5}">
                      <a16:colId xmlns:a16="http://schemas.microsoft.com/office/drawing/2014/main" val="975677717"/>
                    </a:ext>
                  </a:extLst>
                </a:gridCol>
              </a:tblGrid>
              <a:tr h="686482"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Team member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 Role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4729165"/>
                  </a:ext>
                </a:extLst>
              </a:tr>
              <a:tr h="675622">
                <a:tc>
                  <a:txBody>
                    <a:bodyPr/>
                    <a:lstStyle/>
                    <a:p>
                      <a:endParaRPr lang="en-IN" dirty="0"/>
                    </a:p>
                    <a:p>
                      <a:r>
                        <a:rPr lang="en-IN" dirty="0"/>
                        <a:t> Trisha Srinivas</a:t>
                      </a: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 Team Lead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94477258"/>
                  </a:ext>
                </a:extLst>
              </a:tr>
              <a:tr h="675622">
                <a:tc>
                  <a:txBody>
                    <a:bodyPr/>
                    <a:lstStyle/>
                    <a:p>
                      <a:endParaRPr lang="en-IN" dirty="0"/>
                    </a:p>
                    <a:p>
                      <a:r>
                        <a:rPr lang="en-IN" dirty="0"/>
                        <a:t> Vanitha B</a:t>
                      </a: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40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   Developer </a:t>
                      </a:r>
                    </a:p>
                  </a:txBody>
                  <a:tcPr marL="7620" marR="7620" marT="7620" anchor="ctr"/>
                </a:tc>
                <a:extLst>
                  <a:ext uri="{0D108BD9-81ED-4DB2-BD59-A6C34878D82A}">
                    <a16:rowId xmlns:a16="http://schemas.microsoft.com/office/drawing/2014/main" val="166784707"/>
                  </a:ext>
                </a:extLst>
              </a:tr>
              <a:tr h="675622">
                <a:tc>
                  <a:txBody>
                    <a:bodyPr/>
                    <a:lstStyle/>
                    <a:p>
                      <a:endParaRPr lang="en-IN" dirty="0"/>
                    </a:p>
                    <a:p>
                      <a:r>
                        <a:rPr lang="en-IN" dirty="0"/>
                        <a:t> Thanushree S</a:t>
                      </a: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40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   Marketing Lead</a:t>
                      </a:r>
                    </a:p>
                  </a:txBody>
                  <a:tcPr marL="7620" marR="7620" marT="7620" anchor="ctr"/>
                </a:tc>
                <a:extLst>
                  <a:ext uri="{0D108BD9-81ED-4DB2-BD59-A6C34878D82A}">
                    <a16:rowId xmlns:a16="http://schemas.microsoft.com/office/drawing/2014/main" val="705087221"/>
                  </a:ext>
                </a:extLst>
              </a:tr>
              <a:tr h="686482">
                <a:tc>
                  <a:txBody>
                    <a:bodyPr/>
                    <a:lstStyle/>
                    <a:p>
                      <a:pPr algn="l"/>
                      <a:r>
                        <a:rPr lang="en-IN" dirty="0"/>
                        <a:t> Uma Maheshwari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40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   Development Lead</a:t>
                      </a:r>
                    </a:p>
                  </a:txBody>
                  <a:tcPr marL="7620" marR="7620" marT="7620" anchor="ctr"/>
                </a:tc>
                <a:extLst>
                  <a:ext uri="{0D108BD9-81ED-4DB2-BD59-A6C34878D82A}">
                    <a16:rowId xmlns:a16="http://schemas.microsoft.com/office/drawing/2014/main" val="3251612009"/>
                  </a:ext>
                </a:extLst>
              </a:tr>
              <a:tr h="686482">
                <a:tc>
                  <a:txBody>
                    <a:bodyPr/>
                    <a:lstStyle/>
                    <a:p>
                      <a:r>
                        <a:rPr lang="en-IN" dirty="0"/>
                        <a:t> Usha Rani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40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 Test Lead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989344"/>
                  </a:ext>
                </a:extLst>
              </a:tr>
              <a:tr h="686482">
                <a:tc>
                  <a:txBody>
                    <a:bodyPr/>
                    <a:lstStyle/>
                    <a:p>
                      <a:r>
                        <a:rPr lang="en-IN"/>
                        <a:t> Susmitha 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IN" sz="140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 Customer Contact Lead</a:t>
                      </a:r>
                    </a:p>
                    <a:p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315023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4960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5886C-2AC8-ED81-81E1-EB56CE95F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18B1A-D73F-F2F6-5303-A4369C417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400" y="395786"/>
            <a:ext cx="7937961" cy="838202"/>
          </a:xfrm>
        </p:spPr>
        <p:txBody>
          <a:bodyPr/>
          <a:lstStyle/>
          <a:p>
            <a:r>
              <a:rPr lang="en-US" dirty="0">
                <a:ea typeface="Calibri"/>
                <a:cs typeface="Calibri"/>
              </a:rPr>
              <a:t> Modified Problem Statement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0C28EA-830E-81C1-7404-A72E3E5F58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4160" y="1595806"/>
            <a:ext cx="10519785" cy="3790386"/>
          </a:xfrm>
        </p:spPr>
        <p:txBody>
          <a:bodyPr spcFirstLastPara="1" vert="horz" wrap="square" lIns="121920" tIns="60960" rIns="121920" bIns="60960" rtlCol="0" anchor="t" anchorCtr="0">
            <a:normAutofit fontScale="92500"/>
          </a:bodyPr>
          <a:lstStyle/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ea typeface="Calibri"/>
                <a:cs typeface="Calibri"/>
              </a:rPr>
              <a:t>In India accountants managing MSMEs waste up to 70% of their time manually entering invoice data from messy, unstructured sources (paper bills, WhatsApp images, PDFs) into systems like Tally. No existing solution handles this real-world data chaos, leading to frequent errors and serious GST compliance risks.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solidFill>
                  <a:srgbClr val="FF0000"/>
                </a:solidFill>
                <a:ea typeface="Calibri"/>
                <a:cs typeface="Calibri"/>
              </a:rPr>
              <a:t>Please explain to the assessors (this section is just for you to prepare – do not include this in the slide – understand and clearly talk about below)</a:t>
            </a: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solidFill>
                  <a:srgbClr val="FF0000"/>
                </a:solidFill>
                <a:ea typeface="Calibri"/>
                <a:cs typeface="Calibri"/>
              </a:rPr>
              <a:t>	1. Why you chose this problem</a:t>
            </a: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solidFill>
                  <a:srgbClr val="FF0000"/>
                </a:solidFill>
                <a:ea typeface="Calibri"/>
                <a:cs typeface="Calibri"/>
              </a:rPr>
              <a:t>	2. Pain faced by the user</a:t>
            </a: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solidFill>
                  <a:srgbClr val="FF0000"/>
                </a:solidFill>
                <a:ea typeface="Calibri"/>
                <a:cs typeface="Calibri"/>
              </a:rPr>
              <a:t>	3. How many users your team spoke to</a:t>
            </a: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solidFill>
                  <a:srgbClr val="FF0000"/>
                </a:solidFill>
                <a:ea typeface="Calibri"/>
                <a:cs typeface="Calibri"/>
              </a:rPr>
              <a:t>	4. What questions you asked &amp; their response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21328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14202-8164-A88E-0CA6-8593095CE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7E602-D398-31B9-4AEB-C32E61CFB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400" y="395786"/>
            <a:ext cx="7937961" cy="838202"/>
          </a:xfrm>
        </p:spPr>
        <p:txBody>
          <a:bodyPr/>
          <a:lstStyle/>
          <a:p>
            <a:r>
              <a:rPr lang="en-US" dirty="0">
                <a:ea typeface="Calibri"/>
                <a:cs typeface="Calibri"/>
              </a:rPr>
              <a:t> User/ Customer Understanding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7F0759-F1BE-FAAD-BBB2-2AC231645E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4160" y="1595806"/>
            <a:ext cx="10519785" cy="3790386"/>
          </a:xfrm>
        </p:spPr>
        <p:txBody>
          <a:bodyPr spcFirstLastPara="1" vert="horz" wrap="square" lIns="121920" tIns="60960" rIns="121920" bIns="60960" rtlCol="0" anchor="t" anchorCtr="0">
            <a:normAutofit/>
          </a:bodyPr>
          <a:lstStyle/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ea typeface="Calibri"/>
                <a:cs typeface="Calibri"/>
              </a:rPr>
              <a:t>Paste team members photos with potential customers  here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ea typeface="Calibri"/>
                <a:cs typeface="Calibri"/>
              </a:rPr>
              <a:t>Then, show proof of your interviews – Q&amp;A </a:t>
            </a:r>
            <a:r>
              <a:rPr lang="en-US" dirty="0">
                <a:solidFill>
                  <a:srgbClr val="FF0000"/>
                </a:solidFill>
                <a:ea typeface="Calibri"/>
                <a:cs typeface="Calibri"/>
              </a:rPr>
              <a:t>(Open GitHub go to documents, open this customer interview document and show the assessors)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525992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E22C4-7666-AFE3-A07F-5A5D3E72C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13FFD-F5AA-B7BE-FD50-CA6734509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Ideal Customer Profile (ICP)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3C3445-0940-99F0-AB5E-58C8CA362A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spcFirstLastPara="1" vert="horz" wrap="square" lIns="121920" tIns="60960" rIns="121920" bIns="60960" rtlCol="0" anchor="t" anchorCtr="0">
            <a:normAutofit/>
          </a:bodyPr>
          <a:lstStyle/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/>
              <a:t>Present Ideal Customer Profile (ICP) here – both demographic and psychographic profiles.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solidFill>
                  <a:srgbClr val="FF0000"/>
                </a:solidFill>
              </a:rPr>
              <a:t>Please prepare well as a group, what should be the ICP for your product – do not generate using AI and read it. 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solidFill>
                  <a:srgbClr val="FF0000"/>
                </a:solidFill>
              </a:rPr>
              <a:t>*** Be prepared to answer difficult questions here ***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86100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6636C-7729-37EE-3B86-F1312175D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E9B525-9939-960F-B359-A89DCC475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Customer Persona (CP)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186C9A-5673-235A-9BD4-3F585055F2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400" y="1773936"/>
            <a:ext cx="10801201" cy="2935850"/>
          </a:xfrm>
        </p:spPr>
        <p:txBody>
          <a:bodyPr spcFirstLastPara="1" vert="horz" wrap="square" lIns="121920" tIns="60960" rIns="121920" bIns="60960" rtlCol="0" anchor="t" anchorCtr="0">
            <a:normAutofit lnSpcReduction="10000"/>
          </a:bodyPr>
          <a:lstStyle/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/>
              <a:t>Take one fictitious person who represent your Customer, give a fictitious name, and show how you worked out his demographic and psychographic profile here.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solidFill>
                  <a:srgbClr val="FF0000"/>
                </a:solidFill>
              </a:rPr>
              <a:t>Please prepare well as a group, what should be the CP for your product – do not generate using AI and read it. 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solidFill>
                  <a:srgbClr val="FF0000"/>
                </a:solidFill>
              </a:rPr>
              <a:t>*** Be prepared to answer difficult questions here ***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01998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5D599-550D-934B-834C-4B89AA626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EFA05-49D5-8965-5B47-01BD88A22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 Product USP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D32972-71CF-5F3C-FC9D-E36A0D2D50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400" y="1773936"/>
            <a:ext cx="10801201" cy="2935850"/>
          </a:xfrm>
        </p:spPr>
        <p:txBody>
          <a:bodyPr spcFirstLastPara="1" vert="horz" wrap="square" lIns="121920" tIns="60960" rIns="121920" bIns="60960" rtlCol="0" anchor="t" anchorCtr="0">
            <a:normAutofit/>
          </a:bodyPr>
          <a:lstStyle/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/>
              <a:t>bullet points  on “why” will your customers buy your product, “what is unique about your product” and how different it is from other products available in the market today.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solidFill>
                  <a:srgbClr val="FF0000"/>
                </a:solidFill>
              </a:rPr>
              <a:t>*** Please prepare as a group to answer the above. maximum 4 bullet points ****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6672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1565F-E02D-F94D-F107-CD2878B80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43AFC-E9B9-CA66-D2C9-C42DE2F1D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400" y="395786"/>
            <a:ext cx="7045685" cy="838202"/>
          </a:xfrm>
        </p:spPr>
        <p:txBody>
          <a:bodyPr/>
          <a:lstStyle/>
          <a:p>
            <a:r>
              <a:rPr lang="en-US" dirty="0">
                <a:ea typeface="Calibri"/>
                <a:cs typeface="Calibri"/>
              </a:rPr>
              <a:t> Use Cases &amp; High level Requirements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FAADE7-0B30-77FD-7C8B-41A1B856F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400" y="1773936"/>
            <a:ext cx="10801201" cy="2935850"/>
          </a:xfrm>
        </p:spPr>
        <p:txBody>
          <a:bodyPr spcFirstLastPara="1" vert="horz" wrap="square" lIns="121920" tIns="60960" rIns="121920" bIns="60960" rtlCol="0" anchor="t" anchorCtr="0">
            <a:normAutofit/>
          </a:bodyPr>
          <a:lstStyle/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ea typeface="Calibri"/>
                <a:cs typeface="Calibri"/>
              </a:rPr>
              <a:t>4 to 5 major use cases on how your customer will use your solution – what input will the customer provide and what output will he expect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ea typeface="Calibri"/>
                <a:cs typeface="Calibri"/>
              </a:rPr>
              <a:t>Show the requirements document from GitHub and discuss  functional, non-functional requirements and acceptance criteria.</a:t>
            </a:r>
            <a:endParaRPr lang="en-US" dirty="0"/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87486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E1081-ED83-5A03-3AF1-E77B4D789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6EBF3-B90A-D780-71A8-0F6F74206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400" y="395786"/>
            <a:ext cx="7045685" cy="838202"/>
          </a:xfrm>
        </p:spPr>
        <p:txBody>
          <a:bodyPr/>
          <a:lstStyle/>
          <a:p>
            <a:r>
              <a:rPr lang="en-US" dirty="0">
                <a:ea typeface="Calibri"/>
                <a:cs typeface="Calibri"/>
              </a:rPr>
              <a:t> Proof of Concept (PoC) / Prototype Demo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1E6CD-28A4-0547-FCFA-8E8B38A76F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400" y="1773936"/>
            <a:ext cx="10801201" cy="2935850"/>
          </a:xfrm>
        </p:spPr>
        <p:txBody>
          <a:bodyPr spcFirstLastPara="1" vert="horz" wrap="square" lIns="121920" tIns="60960" rIns="121920" bIns="60960" rtlCol="0" anchor="t" anchorCtr="0">
            <a:normAutofit/>
          </a:bodyPr>
          <a:lstStyle/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ea typeface="Calibri"/>
                <a:cs typeface="Calibri"/>
              </a:rPr>
              <a:t>Show  demo</a:t>
            </a:r>
            <a:endParaRPr lang="en-US" dirty="0"/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6312767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2382</TotalTime>
  <Words>658</Words>
  <Application>Microsoft Office PowerPoint</Application>
  <PresentationFormat>Widescreen</PresentationFormat>
  <Paragraphs>98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Arial</vt:lpstr>
      <vt:lpstr>Calibri</vt:lpstr>
      <vt:lpstr>Roboto Medium</vt:lpstr>
      <vt:lpstr>Times New Roman</vt:lpstr>
      <vt:lpstr>1_Office Theme</vt:lpstr>
      <vt:lpstr>PowerPoint Presentation</vt:lpstr>
      <vt:lpstr>Team members &amp; roles</vt:lpstr>
      <vt:lpstr> Modified Problem Statement</vt:lpstr>
      <vt:lpstr> User/ Customer Understanding</vt:lpstr>
      <vt:lpstr>Ideal Customer Profile (ICP)</vt:lpstr>
      <vt:lpstr>Customer Persona (CP)</vt:lpstr>
      <vt:lpstr> Product USP</vt:lpstr>
      <vt:lpstr> Use Cases &amp; High level Requirements</vt:lpstr>
      <vt:lpstr> Proof of Concept (PoC) / Prototype 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Ramaraj Sri</dc:creator>
  <cp:lastModifiedBy>Ranganatham Sudhakar</cp:lastModifiedBy>
  <cp:revision>6</cp:revision>
  <dcterms:created xsi:type="dcterms:W3CDTF">2025-09-17T04:00:39Z</dcterms:created>
  <dcterms:modified xsi:type="dcterms:W3CDTF">2026-03-27T14:27:24Z</dcterms:modified>
</cp:coreProperties>
</file>